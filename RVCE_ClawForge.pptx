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Overlock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verlock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Overlock-italic.fntdata"/><Relationship Id="rId6" Type="http://schemas.openxmlformats.org/officeDocument/2006/relationships/slide" Target="slides/slide2.xml"/><Relationship Id="rId18" Type="http://schemas.openxmlformats.org/officeDocument/2006/relationships/font" Target="fonts/Overlock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fa5c7acaf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dfa5c7acaf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fa5c7acaf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fa5c7acaf_1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dfa5c7acaf_1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dfa5c7acaf_1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40504" l="35216" r="35722" t="9860"/>
          <a:stretch/>
        </p:blipFill>
        <p:spPr>
          <a:xfrm>
            <a:off x="7614738" y="1432669"/>
            <a:ext cx="4421349" cy="563823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CLASH OF THE</a:t>
            </a:r>
            <a:endParaRPr b="1" i="0" sz="2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CLAWS</a:t>
            </a:r>
            <a:endParaRPr b="0" i="0" sz="3600" u="none" cap="none" strike="noStrike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37350" y="1203525"/>
            <a:ext cx="76494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R.V. College of Engineering- ClawForge</a:t>
            </a:r>
            <a:endParaRPr b="1" sz="4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rPr>
              <a:t>Stop Waiting. Start Shipping. Let AI Review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 u="none" cap="none" strike="noStrike">
              <a:solidFill>
                <a:srgbClr val="E81B25"/>
              </a:solidFill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000">
                <a:solidFill>
                  <a:schemeClr val="dk2"/>
                </a:solidFill>
                <a:latin typeface="Overlock"/>
                <a:ea typeface="Overlock"/>
                <a:cs typeface="Overlock"/>
                <a:sym typeface="Overlock"/>
              </a:rPr>
              <a:t>Prateek Khemka, Praneel K A, Rakshak S, RVS Nikhil</a:t>
            </a:r>
            <a:endParaRPr b="1" i="0" sz="4000" u="none" cap="none" strike="noStrike">
              <a:solidFill>
                <a:schemeClr val="dk2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grpSp>
        <p:nvGrpSpPr>
          <p:cNvPr id="93" name="Google Shape;93;p14"/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94" name="Google Shape;94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355" y="133834"/>
              <a:ext cx="974396" cy="63904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14"/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800" u="none" cap="none" strike="noStrike">
                  <a:solidFill>
                    <a:schemeClr val="dk1"/>
                  </a:solidFill>
                  <a:latin typeface="Overlock"/>
                  <a:ea typeface="Overlock"/>
                  <a:cs typeface="Overlock"/>
                  <a:sym typeface="Overlock"/>
                </a:rPr>
                <a:t>| Tech Management, SRI-B</a:t>
              </a:r>
              <a:endParaRPr b="1" i="0" sz="1800" u="none" cap="none" strike="noStrike">
                <a:solidFill>
                  <a:srgbClr val="E81B25"/>
                </a:solidFill>
                <a:latin typeface="Overlock"/>
                <a:ea typeface="Overlock"/>
                <a:cs typeface="Overlock"/>
                <a:sym typeface="Overlock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669450" y="1633725"/>
            <a:ext cx="10972800" cy="4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modern agile development, the </a:t>
            </a:r>
            <a:r>
              <a:rPr b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Pull Request (PR)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intended to be a quality gate, but in practice, it often becomes a bottleneck that drains engineering velocity and morale.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Bottleneck (Velocity)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teams aim for high deployment frequency, but PRs often sit in "Review Required" limbo for 24–48 hours. This causes </a:t>
            </a:r>
            <a:r>
              <a:rPr b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context switching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a developer moves on to a new task, only to be pulled back days later to fix a minor variable naming issue or a missed edge case.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Fatigue (Quality)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Senior engineers—the "force multipliers"—spend up to 30% of their week reviewing code. Under pressure to ship, "rubber-stamping" (approving without a deep look) becomes common. This is where </a:t>
            </a:r>
            <a:r>
              <a:rPr b="1"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silent killers</a:t>
            </a: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like N+1 queries or thread-safety issues slip into production.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I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Knowledge Gap (Consistency)</a:t>
            </a:r>
            <a:endParaRPr b="1" i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reviewers are subjective. One reviewer might be a stickler for SOLID principles, while another only cares about test coverage. This inconsistency leads to "codebase drift," where different modules follow different standards, making long-term maintenance a nightmare.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Current Solution &amp; Gaps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463" y="1524005"/>
            <a:ext cx="11619275" cy="492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Solutions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542350" y="1462800"/>
            <a:ext cx="10972800" cy="5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CLAWSIGHT is a self-hosted autonomous AI code review system built on OpenClaw that continuously monitors GitHub Pull Requests and performs repository-aware AI reviews without requiring manual intervention.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traditional diff-only review tools, CLAWSIGHT understands the broader codebase by retrieving related functions, test files, historical bugs, and team coding conventions using a ChromaDB-powered RAG pipeline.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a PR is opened or updated, the system automatically launches 4 parallel Claude-powered specialist reviewer agents focused on Security, Performance, Test Coverage, and Architecture analysis. Their outputs are aggregated into a centralized reasoning engine that computes regression risk, prioritizes findings by severity, and generates explainable review feedback.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I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CLAWSIGHT then automatically posts structured review comments to GitHub, escalates critical issues through Slack/Discord notifications, and continuously improves over time using persistent repository memory that learns team conventions, author patterns, and historical review behavior.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100" y="249775"/>
            <a:ext cx="982980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Demo/Product Walkthrough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Screen/Flow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User Interacts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Moments</a:t>
            </a:r>
            <a:endParaRPr/>
          </a:p>
        </p:txBody>
      </p:sp>
      <p:sp>
        <p:nvSpPr>
          <p:cNvPr id="148" name="Google Shape;148;p19"/>
          <p:cNvSpPr txBox="1"/>
          <p:nvPr/>
        </p:nvSpPr>
        <p:spPr>
          <a:xfrm>
            <a:off x="6670071" y="4145654"/>
            <a:ext cx="276003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Slide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0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0"/>
          <p:cNvSpPr/>
          <p:nvPr/>
        </p:nvSpPr>
        <p:spPr>
          <a:xfrm>
            <a:off x="609600" y="457410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&amp; Architecture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0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0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3075" y="1127575"/>
            <a:ext cx="8464301" cy="5642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/>
          <p:nvPr/>
        </p:nvSpPr>
        <p:spPr>
          <a:xfrm>
            <a:off x="0" y="0"/>
            <a:ext cx="12192000" cy="852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1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/>
          <p:nvPr/>
        </p:nvSpPr>
        <p:spPr>
          <a:xfrm>
            <a:off x="609600" y="219456"/>
            <a:ext cx="19506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1" title="image.png"/>
          <p:cNvPicPr preferRelativeResize="0"/>
          <p:nvPr/>
        </p:nvPicPr>
        <p:blipFill rotWithShape="1">
          <a:blip r:embed="rId3">
            <a:alphaModFix/>
          </a:blip>
          <a:srcRect b="0" l="0" r="52333" t="0"/>
          <a:stretch/>
        </p:blipFill>
        <p:spPr>
          <a:xfrm>
            <a:off x="2476575" y="647300"/>
            <a:ext cx="7191525" cy="611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2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740496" y="1682945"/>
            <a:ext cx="557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6670071" y="4145654"/>
            <a:ext cx="276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2650" y="1001375"/>
            <a:ext cx="9226698" cy="585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2"/>
          <p:cNvSpPr/>
          <p:nvPr/>
        </p:nvSpPr>
        <p:spPr>
          <a:xfrm>
            <a:off x="561800" y="457435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&amp; Use cases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3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3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/>
          <p:nvPr/>
        </p:nvSpPr>
        <p:spPr>
          <a:xfrm>
            <a:off x="609600" y="467435"/>
            <a:ext cx="109728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Differentiation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4450" y="1204975"/>
            <a:ext cx="5199850" cy="558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16700" y="1194140"/>
            <a:ext cx="5199850" cy="5511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42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endParaRPr sz="42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Repo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 Link</a:t>
            </a:r>
            <a:b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submitted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cap="flat" cmpd="sng" w="12700">
            <a:solidFill>
              <a:srgbClr val="007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Idea</a:t>
            </a:r>
            <a:endParaRPr sz="1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5"/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666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75" y="1059692"/>
            <a:ext cx="11824249" cy="518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